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4a63369fb4a76" /><Relationship Type="http://schemas.openxmlformats.org/officeDocument/2006/relationships/extended-properties" Target="/docProps/app.xml" Id="R5a3f202e54b244b6" /><Relationship Type="http://schemas.openxmlformats.org/officeDocument/2006/relationships/officeDocument" Target="/ppt/presentation.xml" Id="R10617ece0a484b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8b9bbc5c9486a"/>
  </p:sldMasterIdLst>
  <p:notesMasterIdLst>
    <p:notesMasterId xmlns:r="http://schemas.openxmlformats.org/officeDocument/2006/relationships" r:id="R8e455c583869481e"/>
  </p:notesMasterIdLst>
  <p:sldIdLst>
    <p:sldId xmlns:r="http://schemas.openxmlformats.org/officeDocument/2006/relationships" id="256" r:id="Re3c2ceb3552e49b7"/>
    <p:sldId xmlns:r="http://schemas.openxmlformats.org/officeDocument/2006/relationships" id="257" r:id="R557c61a0132f46da"/>
    <p:sldId xmlns:r="http://schemas.openxmlformats.org/officeDocument/2006/relationships" id="258" r:id="R9d2d4520f9784202"/>
    <p:sldId xmlns:r="http://schemas.openxmlformats.org/officeDocument/2006/relationships" id="259" r:id="R1c0db603ca964442"/>
    <p:sldId xmlns:r="http://schemas.openxmlformats.org/officeDocument/2006/relationships" id="260" r:id="Rf781058808654f8d"/>
    <p:sldId xmlns:r="http://schemas.openxmlformats.org/officeDocument/2006/relationships" id="261" r:id="R3f4587b63f424a94"/>
    <p:sldId xmlns:r="http://schemas.openxmlformats.org/officeDocument/2006/relationships" id="262" r:id="Re27b8086d3ea45a8"/>
    <p:sldId xmlns:r="http://schemas.openxmlformats.org/officeDocument/2006/relationships" id="263" r:id="R6ced82ec4f80422a"/>
    <p:sldId xmlns:r="http://schemas.openxmlformats.org/officeDocument/2006/relationships" id="264" r:id="Rcbd1f554f3e8410a"/>
    <p:sldId xmlns:r="http://schemas.openxmlformats.org/officeDocument/2006/relationships" id="265" r:id="R6edc83fead4943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881ceb2ad4da0" /><Relationship Type="http://schemas.openxmlformats.org/officeDocument/2006/relationships/slideMaster" Target="/ppt/slideMasters/slideMaster1.xml" Id="Rc4e8b9bbc5c9486a" /><Relationship Type="http://schemas.openxmlformats.org/officeDocument/2006/relationships/notesMaster" Target="/ppt/notesMasters/notesMaster1.xml" Id="R8e455c583869481e" /><Relationship Type="http://schemas.openxmlformats.org/officeDocument/2006/relationships/presProps" Target="/ppt/presProps.xml" Id="R795bc0f18c8844d3" /><Relationship Type="http://schemas.openxmlformats.org/officeDocument/2006/relationships/tableStyles" Target="/ppt/tableStyles.xml" Id="R442bf9aea926481e" /><Relationship Type="http://schemas.openxmlformats.org/officeDocument/2006/relationships/slide" Target="/ppt/slides/slide1.xml" Id="Re3c2ceb3552e49b7" /><Relationship Type="http://schemas.openxmlformats.org/officeDocument/2006/relationships/slide" Target="/ppt/slides/slide2.xml" Id="R557c61a0132f46da" /><Relationship Type="http://schemas.openxmlformats.org/officeDocument/2006/relationships/slide" Target="/ppt/slides/slide3.xml" Id="R9d2d4520f9784202" /><Relationship Type="http://schemas.openxmlformats.org/officeDocument/2006/relationships/slide" Target="/ppt/slides/slide4.xml" Id="R1c0db603ca964442" /><Relationship Type="http://schemas.openxmlformats.org/officeDocument/2006/relationships/slide" Target="/ppt/slides/slide5.xml" Id="Rf781058808654f8d" /><Relationship Type="http://schemas.openxmlformats.org/officeDocument/2006/relationships/slide" Target="/ppt/slides/slide6.xml" Id="R3f4587b63f424a94" /><Relationship Type="http://schemas.openxmlformats.org/officeDocument/2006/relationships/slide" Target="/ppt/slides/slide7.xml" Id="Re27b8086d3ea45a8" /><Relationship Type="http://schemas.openxmlformats.org/officeDocument/2006/relationships/slide" Target="/ppt/slides/slide8.xml" Id="R6ced82ec4f80422a" /><Relationship Type="http://schemas.openxmlformats.org/officeDocument/2006/relationships/slide" Target="/ppt/slides/slide9.xml" Id="Rcbd1f554f3e8410a" /><Relationship Type="http://schemas.openxmlformats.org/officeDocument/2006/relationships/slide" Target="/ppt/slides/slide10.xml" Id="R6edc83fead4943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5e6387a2f444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bd5f92d2164dc1" /><Relationship Type="http://schemas.openxmlformats.org/officeDocument/2006/relationships/notesMaster" Target="/ppt/notesMasters/notesMaster1.xml" Id="Rb9a01413b72e4f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abf824c6b4610" /><Relationship Type="http://schemas.openxmlformats.org/officeDocument/2006/relationships/notesMaster" Target="/ppt/notesMasters/notesMaster1.xml" Id="Re143f96795cc4f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34ac5cee6646c2" /><Relationship Type="http://schemas.openxmlformats.org/officeDocument/2006/relationships/notesMaster" Target="/ppt/notesMasters/notesMaster1.xml" Id="Rebe8c583fc7b4c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ccc92666f4269" /><Relationship Type="http://schemas.openxmlformats.org/officeDocument/2006/relationships/notesMaster" Target="/ppt/notesMasters/notesMaster1.xml" Id="Rb935edc7495246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b469e7c5164cf3" /><Relationship Type="http://schemas.openxmlformats.org/officeDocument/2006/relationships/notesMaster" Target="/ppt/notesMasters/notesMaster1.xml" Id="R4bc9c0e7d629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954c2bdbed4bc4" /><Relationship Type="http://schemas.openxmlformats.org/officeDocument/2006/relationships/notesMaster" Target="/ppt/notesMasters/notesMaster1.xml" Id="R294c46a3011a4b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692660db40469f" /><Relationship Type="http://schemas.openxmlformats.org/officeDocument/2006/relationships/notesMaster" Target="/ppt/notesMasters/notesMaster1.xml" Id="Rc0b032f8f9414e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1e7092b0864a0f" /><Relationship Type="http://schemas.openxmlformats.org/officeDocument/2006/relationships/notesMaster" Target="/ppt/notesMasters/notesMaster1.xml" Id="R9b362a7beae746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96f62e8cf48fc" /><Relationship Type="http://schemas.openxmlformats.org/officeDocument/2006/relationships/notesMaster" Target="/ppt/notesMasters/notesMaster1.xml" Id="R8408faf5594a43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e5749d233e4a62" /><Relationship Type="http://schemas.openxmlformats.org/officeDocument/2006/relationships/notesMaster" Target="/ppt/notesMasters/notesMaster1.xml" Id="R1f35e747566d44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89a41d5fd48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4c6f93b953459a" /><Relationship Type="http://schemas.openxmlformats.org/officeDocument/2006/relationships/slideLayout" Target="/ppt/slideLayouts/slideLayout1.xml" Id="Rc35d5354b5b34b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d5354b5b34b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b56abd2414e0d" /><Relationship Type="http://schemas.openxmlformats.org/officeDocument/2006/relationships/notesSlide" Target="/ppt/notesSlides/notesSlide1.xml" Id="R843b444bcdb04e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865b1615a4396" /><Relationship Type="http://schemas.openxmlformats.org/officeDocument/2006/relationships/notesSlide" Target="/ppt/notesSlides/notesSlide2.xml" Id="Rf6cae5b5413a48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45cc91a634f13" /><Relationship Type="http://schemas.openxmlformats.org/officeDocument/2006/relationships/notesSlide" Target="/ppt/notesSlides/notesSlide3.xml" Id="Rd24a55b0769643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eb0c785864e4a" /><Relationship Type="http://schemas.openxmlformats.org/officeDocument/2006/relationships/notesSlide" Target="/ppt/notesSlides/notesSlide4.xml" Id="R3cc91c336ed040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c35a4ad3c44e4" /><Relationship Type="http://schemas.openxmlformats.org/officeDocument/2006/relationships/notesSlide" Target="/ppt/notesSlides/notesSlide5.xml" Id="R5ccd8bea828346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3015035734f99" /><Relationship Type="http://schemas.openxmlformats.org/officeDocument/2006/relationships/notesSlide" Target="/ppt/notesSlides/notesSlide6.xml" Id="R404611ff190243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d8c2b97c747d9" /><Relationship Type="http://schemas.openxmlformats.org/officeDocument/2006/relationships/notesSlide" Target="/ppt/notesSlides/notesSlide7.xml" Id="Rb4f53bedb1b747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9af59e1f546d8" /><Relationship Type="http://schemas.openxmlformats.org/officeDocument/2006/relationships/notesSlide" Target="/ppt/notesSlides/notesSlide8.xml" Id="R38d75229b09a43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5de8b787c4efd" /><Relationship Type="http://schemas.openxmlformats.org/officeDocument/2006/relationships/notesSlide" Target="/ppt/notesSlides/notesSlide9.xml" Id="Rb29abcb0f3b547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72d6847e74c42" /><Relationship Type="http://schemas.openxmlformats.org/officeDocument/2006/relationships/notesSlide" Target="/ppt/notesSlides/notesSlide10.xml" Id="R2a1c02f9b6f04a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6DA9A-C053-4941-AC6E-7E45866B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9525">
            <a:solidFill>
              <a:srgbClr val="EEF6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532B0-13E6-4DB3-9841-BECCCF3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SATEC-CE/TRI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3E2BA-EE50-4DC1-89F7-FAB6E543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74151"/>
                </a:solidFill>
              </a:defRPr>
            </a:pPr>
            <a:r>
              <a:rPr sz="2100">
                <a:solidFill>
                  <a:srgbClr val="374151"/>
                </a:solidFill>
              </a:rPr>
              <a:t>Sistema de Avaliação Técnica da Educação Profissional do Ceará baseado em TRI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9E6A8-BEC9-4751-A7F2-3F639FD2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280"/>
                </a:solidFill>
              </a:defRPr>
            </a:pPr>
            <a:r>
              <a:rPr sz="1500">
                <a:solidFill>
                  <a:srgbClr val="6B7280"/>
                </a:solidFill>
              </a:rPr>
              <a:t>Projeto de avaliação diagnóstica, formativa e final para cursos técnicos da rede estadual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BB239-BFCE-413D-9AF7-5856BEE7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1440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5CAEC-97BE-4262-A0C8-372705C5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Entrada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CC3F7-E264-48C7-A654-13B8EDAE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19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4ED8"/>
                </a:solidFill>
              </a:defRPr>
            </a:pPr>
            <a:r>
              <a:rPr sz="2250" b="1">
                <a:solidFill>
                  <a:srgbClr val="1D4ED8"/>
                </a:solidFill>
              </a:rPr>
              <a:t>Percurso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CFA9B-5065-495A-B6B6-6263CCD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29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Saída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0EEB1-4E23-4203-9746-87939593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9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Diagnosticar, acompanhar e aprimorar a aprendizagem profissional.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89461-CC3F-4BF9-825E-50C27DA2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8AE09-B352-4BC1-AC67-24426A7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02687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B6C6B-A776-4F02-B7C9-4B0FD8F5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POR QUE ESTE PROJETO IMPORTA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FF44F-0431-4017-A811-8D79819C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Tema e justificativa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7E019-6705-48F7-A964-0E700F3B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AE158-F8A8-4AA3-A226-CDF0238B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762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As escolas profissionalizantes do Ceará já possuem matrizes robustas. O desafio é transformar essa organização curricular em diagnóstico contínuo, comparável e útil para a melhoria do ensino.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C3544-8C0E-4790-95F1-00203E10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0CB0D-5A8A-4B86-BEF9-6B77FAE0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24063-078A-4977-AE50-E23AA7E3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Motivação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70E22-6529-4668-8A10-CB9C4F1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933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Resultados avaliativos costumam chegar como nota ou percentual. O projeto propõe transformá-los em evidências sobre competências técnicas.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AB73C-F039-4D72-BABD-47D7BEBE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5F94E-8E21-4FE5-82AB-DBFD697B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2FC10-5F41-4BFC-A826-89776ECC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90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Importância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E6F79-8EA5-4A32-BABB-91BD3849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90950"/>
            <a:ext cx="2933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A EPT precisa mostrar o que o estudante sabe fazer antes, durante e ao final do curso, com foco no mundo do trabalho.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B8FBA-A505-4EBF-BD34-FE2253D1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E3E42-0086-424B-830C-364EAFE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C1FC8-889F-497E-85BB-20BD56ED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Oportunidade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F30C2-E4D3-4378-9A7A-3111D3BA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933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A TRI permite criar escalas de proficiência e comparar evolução entre turmas, escolas, cursos e eixos tecnológicos.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78667-D3E3-46BE-8302-C589F1D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C5A0F-4678-4542-8C78-98BDE548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6436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838A9B-A63A-4823-996C-C91D0399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IDEIA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13E19-8C7E-4566-A8A2-BC453F81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 matriz curricular vira uma matriz avaliativa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CCC43-64CD-4DB6-B7E0-0C1337D2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856F9-ACBD-4D94-AF8A-C81B3C46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B9F65-9693-4636-B61C-E8E19E79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DD510-76FE-4317-A164-F1768203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4F79A-5F2C-464A-B6CA-94FDC4A1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44E92-E781-4123-B8A1-E56BBD42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FC632-B49B-4749-BB30-D5FA488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Currículo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B1155-D85C-4BE4-9196-2A3F0A7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38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Competências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963E0-F061-4942-A0B9-8D592D2C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384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Descritores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5DA34-C279-43B8-B0F2-C123E015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38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Itens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C2A4C-0F7E-49D2-876F-E232A32C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384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3B54D-1D8C-4372-B683-B4F6F1E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rPr sz="1800">
                <a:solidFill>
                  <a:srgbClr val="374151"/>
                </a:solidFill>
              </a:rPr>
              <a:t>O método parte dos componentes curriculares dos cursos técnicos e cria descritores avaliáveis, capazes de alimentar banco de itens, rubricas práticas e escala de proficiência.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EFD17-ADC3-462E-ABAF-4E87C619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AC6A2-5C90-4AC2-B11E-8841A6D1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98656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8903C-26CE-4769-9B9D-8F4AA797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O QUE OS ESTUDANTES VÃO ALCANÇAR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A19F5-D130-4BE6-A565-106FD260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Objetivos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A0501-3D9C-4127-B423-BCACA4B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AD495-4848-424D-9635-455CD33C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Objetivo geral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E1DD9-19F6-4667-BF70-4D4B24D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Desenvolver e aplicar um método de avaliação técnica baseado em competências e parâmetros da TRI para diagnosticar, acompanhar e aprimorar a aprendizagem nos cursos técnicos da rede estadual.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AF213-E70A-4A85-B32A-5A86E30C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Objetivos específicos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21E42-26C3-49A8-B0AA-B8125C01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94D69-AE38-4475-844F-C4739899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74151"/>
                </a:solidFill>
              </a:defRPr>
            </a:pPr>
            <a:r>
              <a:rPr sz="1500">
                <a:solidFill>
                  <a:srgbClr val="374151"/>
                </a:solidFill>
              </a:rPr>
              <a:t>Identificar conhecimentos prévios e lacunas de aprendizagem no início do curso.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73E3F-5DB2-42A2-BC2B-D08C3DEA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98A76-DA1D-4CE4-BEAB-C9F7FAFA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74151"/>
                </a:solidFill>
              </a:defRPr>
            </a:pPr>
            <a:r>
              <a:rPr sz="1500">
                <a:solidFill>
                  <a:srgbClr val="374151"/>
                </a:solidFill>
              </a:rPr>
              <a:t>Acompanhar o desenvolvimento de competências técnicas ao longo dos semestres.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DB715-19EB-40D1-9706-D89CC3A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C11D6-BC0A-43CE-8F64-427240E8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74151"/>
                </a:solidFill>
              </a:defRPr>
            </a:pPr>
            <a:r>
              <a:rPr sz="1500">
                <a:solidFill>
                  <a:srgbClr val="374151"/>
                </a:solidFill>
              </a:rPr>
              <a:t>Avaliar o perfil profissional de conclusão com evidências teóricas e práticas.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DE6A1-F1F2-4532-AD4A-E6E31C97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65A2E-C2A8-4EF1-84A5-E0238C49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74151"/>
                </a:solidFill>
              </a:defRPr>
            </a:pPr>
            <a:r>
              <a:rPr sz="1500">
                <a:solidFill>
                  <a:srgbClr val="374151"/>
                </a:solidFill>
              </a:rPr>
              <a:t>Gerar relatórios para orientar intervenção pedagógica, planejamento e gestão.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C5057-CAF9-4254-9B84-1C76AC52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C184E-B09F-4B88-BA89-1F5B6944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4723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ADC021-2FA5-4BB5-9772-8543C6FC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BASE CURRICULAR OBRIGATÓRIA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A90C2-FE75-4F59-BBC6-048A3DF4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Alinhamento com o DCRC e a 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E5CA6-B40D-4259-BCE5-FE560B54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FE13D-708E-4FAB-B035-F1FF9E0F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F9B54-0D8C-423C-8ABD-9851809D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5475F-94FF-4DE0-9805-37239145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DCRC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80C15-A6DF-4F4D-A96F-75C9D8B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8384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O projeto considera a formação integral, as competências gerais, a contextualização das aprendizagens e a articulação entre teoria, prática e território.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FE4E7-0534-4DB4-A905-07FFF6E2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545FB-047C-48D4-A2B4-D768A740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A37B5-A432-4B50-9F9A-C593AF2B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907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Matrizes 2025/2026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550D7-FE0A-4587-906C-ADD6ADA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28384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As matrizes das EEEPs organizam formação geral, formação profissional, parte diversificada e estágio em 5.400 h/a.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D0516-E134-47F3-82DA-3209AEE4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02633-801F-4A7A-B72B-3A8768B6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F3D9A-C0D2-405D-B30B-815EAFD4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CNCT e mundo do trabalho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39618-9639-4463-8530-93E11235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28384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Cada curso será analisado por eixo tecnológico, perfil profissional de conclusão, competências técnicas e possibilidades de atuação.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64A96-9F6B-4CD5-9086-D32F3C8B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Nas escolas do campo e EFA, o método também reconhece tempo escola, tempo comunidade, pedagogia da alternância e evidências territoriais de aprendizagem.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D9AFA-D092-4F79-B0D8-D029CAE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0EE7A-C844-4D80-8E9D-40596096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66227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00F0E-A4AB-4025-B3D2-7ACF2AD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COMO AS ATIVIDADES SERÃO FEITAS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62208-686B-40C3-B4A9-AD1F7F73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Metodologia prática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EA88D-E2ED-4669-9465-955EBF9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9C31D-6560-4282-B43D-C50E382D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55805-41F7-44BD-9805-513A507F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383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4679A-B369-4EE0-B585-06290061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335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Mapear o curso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61489-D22A-403B-AB45-3FE49E57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</a:defRPr>
            </a:pPr>
            <a:r>
              <a:rPr sz="1350">
                <a:solidFill>
                  <a:srgbClr val="374151"/>
                </a:solidFill>
              </a:rPr>
              <a:t>Selecionar componentes da matriz e relacionar com competências do CNCT.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CD0DA-FC96-473E-A5DC-AD58956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0F386-41DF-497C-AB6D-A9A1ABC5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813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349BE-C2DE-4CE1-BE66-CAACFE9D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765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Criar descritores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EE68F-DF0B-4A2B-9B9A-549DF686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813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</a:defRPr>
            </a:pPr>
            <a:r>
              <a:rPr sz="1350">
                <a:solidFill>
                  <a:srgbClr val="374151"/>
                </a:solidFill>
              </a:rPr>
              <a:t>Transformar competências em habilidades observáveis e mensuráveis.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58EB8-AC6E-4FE1-852F-3722BD19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5FC22-75ED-4D32-92A5-1149A7CA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242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7A0FF-8974-4DE4-B925-0329D3B4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Construir instrumentos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99420-D6EF-452E-A736-309B9B09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24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</a:defRPr>
            </a:pPr>
            <a:r>
              <a:rPr sz="1350">
                <a:solidFill>
                  <a:srgbClr val="374151"/>
                </a:solidFill>
              </a:rPr>
              <a:t>Elaborar itens objetivos, situações-problema, rubricas e tarefas práticas.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FD233-E167-4EE9-8CC8-8DFF995B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814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260BC-BCD5-455B-BC7A-6BECC3D4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672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55AE5-C276-44F6-BB76-35C4810F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Aplicar em três momentos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F3915-9661-4601-B8AE-F375A59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672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</a:defRPr>
            </a:pPr>
            <a:r>
              <a:rPr sz="1350">
                <a:solidFill>
                  <a:srgbClr val="374151"/>
                </a:solidFill>
              </a:rPr>
              <a:t>Entrada, percurso e saída, com devolutiva para professor e estudante.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AE1DB-3639-408D-B99C-E8E03854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FC546-BCE6-444E-9E0F-A5A746E7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01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64968-5FB6-4622-A8CB-6F240D2A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Intervir e reavaliar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84D5F-CAF8-47D0-98AE-45C2030E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01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</a:defRPr>
            </a:pPr>
            <a:r>
              <a:rPr sz="1350">
                <a:solidFill>
                  <a:srgbClr val="374151"/>
                </a:solidFill>
              </a:rPr>
              <a:t>Usar IA para trilhas, atividades personalizadas e recomposição por descritor.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ADEE9D-F96B-4159-BB23-5BE4D4E0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FC110-D146-43C0-9ED7-121C89A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44955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931E3-56D0-4579-A4DE-BC50667A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APLICAÇÃO NA REDE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1A49E-0008-4FC9-B268-2B0539DA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Como o piloto pode começar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94893-3120-4703-9092-4C87FC8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316BA-6464-4800-9A6B-6D0D53C1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A implantação deve começar pequena, calibrar os instrumentos e depois escalar para os demais cursos.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C697F-D0C6-4B98-A969-BB319E5B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044F8-A809-4120-B69C-88FD98CF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A66B1-D0E4-441E-8DEE-5477EAA3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Tecnologia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26584-B438-43EA-9FA2-AD585B98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790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Informática ou Desenvolvimento de Sistemas.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FF696-C9A7-430A-ADCC-EF427966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AC710-EA43-4EC8-AF15-2FCE2117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C253F-F420-448E-91B4-219DAEDD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051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Gestão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B1DA6-6198-451C-BD53-757A1BB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67075"/>
            <a:ext cx="1790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Administração, com foco em processos, dados e projetos.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951EE-6AF5-4DA6-8601-23EBC81A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23294-83C4-474F-8693-8A9A94BD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5C87B-E295-4F99-975B-840B321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051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Campo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E514F-36DA-4EEE-B63E-1003138E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67075"/>
            <a:ext cx="1790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Agroecologia ou Agropecuária, incluindo evidências territoriais.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0BC94-0AFD-4C3C-B5FE-7DCB471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75C14-A3A5-4AE9-96FD-BD42DA51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73A3F-7EF8-4F1E-A4A1-A3CAB47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Saúde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FF673-1AA6-4323-8021-DF0DE5B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67075"/>
            <a:ext cx="1790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Enfermagem, com simulações e protocolos.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57A3B-FE21-4C1E-B3D5-6D70F584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14625"/>
            <a:ext cx="1333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50EF6-7937-4A61-A370-18524DD3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146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B5879-8CB2-4A80-9D05-653C5AD5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051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Indústria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46AF7-9267-47FB-9A16-CEE768F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67075"/>
            <a:ext cx="933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Eletrotécnica ou Automação.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1355A-B209-4BA6-84B1-E880773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74151"/>
                </a:solidFill>
              </a:defRPr>
            </a:pPr>
            <a:r>
              <a:rPr sz="1725">
                <a:solidFill>
                  <a:srgbClr val="374151"/>
                </a:solidFill>
              </a:rPr>
              <a:t>Cada piloto gera banco de itens, rubricas práticas, relatórios de proficiência e plano de intervenção por turma.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D4C6E-9760-4547-81F7-FDCEC808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9FB9A-BB1A-4A28-AA34-7B1E00F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77473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0F2F7-45DE-4E66-82DE-36C4F50A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TEMPO ESTIMADO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388E9-AE7D-4B2C-B51F-2F18B489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Cronograma de implantação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02CB7-C663-443F-920F-AF638F64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578B5-96F5-4E3A-A298-63003AE5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3D1D2-8DEF-4516-885A-4F9F8E99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Mês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39DD7-D062-47B1-A109-ACBC9491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Planejamento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1270B-1EFD-4A6B-AA68-11C2DBAB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81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</a:defRPr>
            </a:pPr>
            <a:r>
              <a:rPr sz="1425">
                <a:solidFill>
                  <a:srgbClr val="374151"/>
                </a:solidFill>
              </a:rPr>
              <a:t>curso-piloto, equipe, matriz avaliativa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8FBA7-A2EB-4D19-8913-407D11E0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C865E-558E-41F7-B59C-5C877F17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Mês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D1452-62DE-4E91-A08D-6B61F09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Instrumentos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C1CC5-8EFA-4469-AE2D-D9D15ACA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</a:defRPr>
            </a:pPr>
            <a:r>
              <a:rPr sz="1425">
                <a:solidFill>
                  <a:srgbClr val="374151"/>
                </a:solidFill>
              </a:rPr>
              <a:t>descritores, itens, rubricas e formulário diagnóstico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5A883-FA92-43C0-A1C5-F3535495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4AE10-A875-4EE8-AD6E-F13B359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Mês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0C447-1B75-488E-928F-5590C349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Aplicação inicial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DC10F-0AEF-44E5-9ED6-90589E89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52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</a:defRPr>
            </a:pPr>
            <a:r>
              <a:rPr sz="1425">
                <a:solidFill>
                  <a:srgbClr val="374151"/>
                </a:solidFill>
              </a:rPr>
              <a:t>avaliação de entrada e primeiro relatório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C41C0-DA0C-4A04-8199-911AE590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3D270-EF51-470C-B3B7-8A7096D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Meses 4 e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B5F14-4EEC-4293-BA14-DF4692FD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9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Intervenção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6BF8B-8CC8-423C-9652-E82A721B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3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</a:defRPr>
            </a:pPr>
            <a:r>
              <a:rPr sz="1425">
                <a:solidFill>
                  <a:srgbClr val="374151"/>
                </a:solidFill>
              </a:rPr>
              <a:t>atividades por descritor, IA e reagrupamentos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5DB22-3975-4543-AE64-28EC6108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39B5E-96AE-440D-B181-5810363E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Mês 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C9498-6A3C-480D-95D0-EE095F02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05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Avaliação final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28393-A728-40F8-9E47-C476B16F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24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</a:defRPr>
            </a:pPr>
            <a:r>
              <a:rPr sz="1425">
                <a:solidFill>
                  <a:srgbClr val="374151"/>
                </a:solidFill>
              </a:rPr>
              <a:t>comparação, escala preliminar e relatório de melhoria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E0F6B-8B51-43FB-BCA4-CEF4CF6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58ED6-DB86-4A13-9E2B-512919E8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48654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92F6F-D842-4097-8E17-4B3F17CF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ENTREGA PEDAGÓGICA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39B3F-C8BA-4686-A9BE-34C7C51C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Produto final e avaliação dos estudantes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F860E-1F0E-495D-9008-95E2D853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46F59-AB63-4E3A-97FC-5ABC1C8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D44AB-7359-427F-B2D5-EE30C6E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DB3A1-1E52-463F-AE9A-E18DF50C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Produto final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EC328-B7A7-4B60-9C08-1594049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3028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Painel diagnóstico do curso-piloto, relatório por descritor e trilhas de recomposição geradas a partir dos resultados.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8F290-DA1C-4AEF-B0D2-0202C8A0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117BF-A9E5-4CEE-963F-5FD3446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03A8C-10FC-4774-8C54-D35BE089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383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Evidências dos estudantes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2E1E3-537D-4C8E-ADC7-766EE01C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0325"/>
            <a:ext cx="3028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Prova diagnóstica, tarefa prática, projeto técnico, portfólio, relatório de estágio ou diário de campo.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698EE-7ADF-4D0F-B5AF-66CB05B9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573FC-E7C0-44C0-8297-B0B20111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3918F-D253-48FB-BE96-366EC52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83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Avaliação docente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D0E7D-BA77-4489-8BC4-32A46B73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0325"/>
            <a:ext cx="3028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74151"/>
                </a:solidFill>
              </a:defRPr>
            </a:pPr>
            <a:r>
              <a:rPr sz="1200">
                <a:solidFill>
                  <a:srgbClr val="374151"/>
                </a:solidFill>
              </a:rPr>
              <a:t>Rubricas por competência, comparação antes/depois, participação, autonomia e aplicação técnica em situações reais.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0FB13-B75C-403C-8B9C-0A13683D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A nota deixa de ser o fim do processo. Ela passa a indicar quais competências precisam de reforço, aprofundamento ou nova oportunidade prática.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BC0F1-2567-4BF7-8EB7-5B504BA2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F671D-935C-465C-AF61-EAC6612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81937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5A68D-D954-414F-A843-6FDA217B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SÍNTESE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51326-DA66-4711-9B79-3D999AE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O projeto pode virar método estadual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737E6-3822-4CBB-9BD3-7FCB912A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4ACC8-AB58-441B-AC89-C4DCFA8F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O SATEC-CE/TRI propõe uma avaliação que mede evolução, orienta intervenção e fortalece a qualidade da Educação Profissional no Ceará.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504B6-EDB1-471B-AE9C-BD329B99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AF9E2-ED67-46B7-B530-7797F3F3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788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74151"/>
                </a:solidFill>
              </a:defRPr>
            </a:pPr>
            <a:r>
              <a:rPr sz="1650">
                <a:solidFill>
                  <a:srgbClr val="374151"/>
                </a:solidFill>
              </a:rPr>
              <a:t>Escolher o primeiro curso-piloto.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623B4-070C-4AC5-913E-8F4C300D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F37A4-A9D1-4D7B-A646-3EC3F3C4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788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74151"/>
                </a:solidFill>
              </a:defRPr>
            </a:pPr>
            <a:r>
              <a:rPr sz="1650">
                <a:solidFill>
                  <a:srgbClr val="374151"/>
                </a:solidFill>
              </a:rPr>
              <a:t>Construir a matriz avaliativa com descritores.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6893C-FD8D-4389-909E-CFF13E25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2B2D6-CA70-4D96-A4FD-80D4E884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788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74151"/>
                </a:solidFill>
              </a:defRPr>
            </a:pPr>
            <a:r>
              <a:rPr sz="1650">
                <a:solidFill>
                  <a:srgbClr val="374151"/>
                </a:solidFill>
              </a:rPr>
              <a:t>Criar banco inicial de itens e rubricas práticas.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57A2C-E3BD-4F03-8F3B-71752450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AA74F-AC8A-4D44-B1D4-40F90753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788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74151"/>
                </a:solidFill>
              </a:defRPr>
            </a:pPr>
            <a:r>
              <a:rPr sz="1650">
                <a:solidFill>
                  <a:srgbClr val="374151"/>
                </a:solidFill>
              </a:rPr>
              <a:t>Aplicar diagnóstico, gerar devolutivas e validar o modelo.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EBF04-81CF-4448-9D4A-761D6941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6648F-BF5F-453B-8C15-C3018038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Meta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10F47-9C39-4326-9E3E-0CDBFBE2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57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Melhorar o ensino técnico com dados, prática e intervenção pedagógica.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52575-E791-4A41-BDE8-B7207A86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SATEC-CE/TRI | Avaliação da Educação Profissional do Ceará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D1109-5F70-4292-B13B-84F1FB90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1595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2026-07-01T12:38:00.3720000Z</dcterms:created>
  <dcterms:modified xsi:type="dcterms:W3CDTF">2026-07-01T12:38:00.3720000Z</dcterms:modified>
</coreProperties>
</file>